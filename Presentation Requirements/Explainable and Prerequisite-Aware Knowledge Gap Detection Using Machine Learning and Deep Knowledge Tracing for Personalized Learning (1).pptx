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Geist"/>
      <p:bold r:id="rId16"/>
      <p:boldItalic r:id="rId17"/>
    </p:embeddedFont>
    <p:embeddedFont>
      <p:font typeface="Geist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eistLigh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Geist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Geist-boldItalic.fntdata"/><Relationship Id="rId16" Type="http://schemas.openxmlformats.org/officeDocument/2006/relationships/font" Target="fonts/Geist-bold.fntdata"/><Relationship Id="rId5" Type="http://schemas.openxmlformats.org/officeDocument/2006/relationships/slide" Target="slides/slide1.xml"/><Relationship Id="rId19" Type="http://schemas.openxmlformats.org/officeDocument/2006/relationships/font" Target="fonts/GeistLight-bold.fntdata"/><Relationship Id="rId6" Type="http://schemas.openxmlformats.org/officeDocument/2006/relationships/slide" Target="slides/slide2.xml"/><Relationship Id="rId18" Type="http://schemas.openxmlformats.org/officeDocument/2006/relationships/font" Target="fonts/Geist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661475" y="467618"/>
            <a:ext cx="10868745" cy="1451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800"/>
              <a:buFont typeface="Geist"/>
              <a:buNone/>
            </a:pPr>
            <a:r>
              <a:rPr b="1" i="0" lang="en-US" sz="28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Explainable and Prerequisite-Aware Knowledge Gap Detection Using Machine Learning and Deep Knowledge Tracing for Personalized Learning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356682" y="2186880"/>
            <a:ext cx="11478330" cy="18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An End-to-End AI-Driven Cognitive Gap Estimation &amp; Adaptive Remediation Platform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54321" y="2521347"/>
            <a:ext cx="5467114" cy="1485801"/>
          </a:xfrm>
          <a:prstGeom prst="roundRect">
            <a:avLst>
              <a:gd fmla="val 7213" name="adj"/>
            </a:avLst>
          </a:prstGeom>
          <a:solidFill>
            <a:srgbClr val="3B82F6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03146" y="2655292"/>
            <a:ext cx="5169465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Team Members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03146" y="3031034"/>
            <a:ext cx="5169465" cy="85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Sharath 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Reg No: 210425149057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Padmanaban 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Reg No: 210425149035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6283763" y="2655292"/>
            <a:ext cx="5252807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Academic Supervision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283763" y="3031034"/>
            <a:ext cx="5252807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Project Guide:</a:t>
            </a: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Prof. Prabu Deva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Instructor / Course Coordinator:</a:t>
            </a: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Prof. Aruchana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90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Department:CSE(Cybersecurity)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928962" y="4232275"/>
            <a:ext cx="4815561" cy="491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92.40%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61475" y="4898330"/>
            <a:ext cx="5350634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XGBoost 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46974" y="4232275"/>
            <a:ext cx="4815660" cy="491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0.9865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179487" y="4898330"/>
            <a:ext cx="5350733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Macro ROC-AUC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28962" y="5482431"/>
            <a:ext cx="4815561" cy="491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750"/>
              <a:buFont typeface="Geist"/>
              <a:buNone/>
            </a:pPr>
            <a:r>
              <a:rPr b="1" i="0" lang="en-US" sz="3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525K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61475" y="6148487"/>
            <a:ext cx="5350634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Interaction 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46974" y="5482431"/>
            <a:ext cx="4815660" cy="491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750"/>
              <a:buFont typeface="Geist"/>
              <a:buNone/>
            </a:pPr>
            <a:r>
              <a:rPr b="1" i="0" lang="en-US" sz="3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5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179487" y="6148487"/>
            <a:ext cx="5350733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Deep Architectures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661475" y="469205"/>
            <a:ext cx="10868745" cy="483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800"/>
              <a:buFont typeface="Geist"/>
              <a:buNone/>
            </a:pPr>
            <a:r>
              <a:rPr b="1" i="0" lang="en-US" sz="28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The Challenge: Why Traditional EdTech Falls Short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61475" y="1287859"/>
            <a:ext cx="5252807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A855F7"/>
                </a:solidFill>
                <a:latin typeface="Geist"/>
                <a:ea typeface="Geist"/>
                <a:cs typeface="Geist"/>
                <a:sym typeface="Geist"/>
              </a:rPr>
              <a:t>The Core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61475" y="1663601"/>
            <a:ext cx="5252807" cy="918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Traditional online assessment systems evaluate </a:t>
            </a:r>
            <a:r>
              <a:rPr b="1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static final scores</a:t>
            </a: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but fail to capture latent cognitive knowledge gaps, problem-solving hesitation, and prerequisite dependency gaps. Students receive a single numerical percentage with no diagnostic insight into </a:t>
            </a:r>
            <a:r>
              <a:rPr b="0" i="1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why</a:t>
            </a: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they struggled or </a:t>
            </a:r>
            <a:r>
              <a:rPr b="0" i="1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which</a:t>
            </a: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foundational concepts require remediation.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733080"/>
            <a:ext cx="5252807" cy="107900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905547" y="2900958"/>
            <a:ext cx="4840861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Static One-Size-Fits-All Quizzes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905547" y="3276699"/>
            <a:ext cx="4840861" cy="3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No real-time adaptation to individual skill mastery levels or learning trajectories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946029"/>
            <a:ext cx="5252807" cy="107900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905547" y="4113907"/>
            <a:ext cx="4840861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Black-Box Grading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05547" y="4489648"/>
            <a:ext cx="4840861" cy="3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Standard platforms output single numerical percentages without any diagnostic explanation or gap attribution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5158978"/>
            <a:ext cx="5252807" cy="107900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905547" y="5326856"/>
            <a:ext cx="4840861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Recommendation Misalignment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905547" y="5702598"/>
            <a:ext cx="4840861" cy="3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Students assigned generic practice problems without targeting specific gap severity or prerequisite dependencies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176610" y="1153914"/>
            <a:ext cx="5467114" cy="5234781"/>
          </a:xfrm>
          <a:prstGeom prst="roundRect">
            <a:avLst>
              <a:gd fmla="val 2047" name="adj"/>
            </a:avLst>
          </a:prstGeom>
          <a:solidFill>
            <a:srgbClr val="3B82F6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325434" y="1287859"/>
            <a:ext cx="5169465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Our Solution: EduGap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325434" y="1663601"/>
            <a:ext cx="5169465" cy="3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A dual-engine framework that replaces black-box grading with precision cognitive diagnostics: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325434" y="2151658"/>
            <a:ext cx="5169465" cy="1610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525">
            <a:noAutofit/>
          </a:bodyPr>
          <a:lstStyle/>
          <a:p>
            <a:pPr indent="-233680" lvl="0" marL="23368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Char char="•"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Gradient-Boosted Decision Trees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XGBoost Champion Model, 92.40%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Char char="•"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Deep Knowledge Tracing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PyTorch LSTM, GRU, Transformer-DKT, GNN, Autoencoders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Char char="•"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Explainable Performance Analytics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SHAP-aligned feature importance hierarchy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Char char="•"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Session-Aware Remediation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Targeted study guides mapped to attended topics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661475" y="512862"/>
            <a:ext cx="10868745" cy="4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700"/>
              <a:buFont typeface="Geist"/>
              <a:buNone/>
            </a:pPr>
            <a:r>
              <a:rPr b="1" i="0" lang="en-US" sz="2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Technical ML &amp; Data Processing Pipeline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61475" y="1232793"/>
            <a:ext cx="10868745" cy="438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End-to-end machine learning workflow for EduGap AI, from raw ASSISTments logs through zero-leakage feature engineering, dual-model training, and diagnostic remediation output.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812727"/>
            <a:ext cx="360453" cy="36046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661475" y="2330252"/>
            <a:ext cx="5355793" cy="23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50"/>
              <a:buFont typeface="Geist"/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Step 1 — Raw Data Ingestion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61475" y="2640013"/>
            <a:ext cx="5355793" cy="438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ASSISTments 525K student interaction logs enter the pipeline as the foundational event stream.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4328" y="1812727"/>
            <a:ext cx="360453" cy="36046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6174328" y="2330252"/>
            <a:ext cx="5355893" cy="23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50"/>
              <a:buFont typeface="Geist"/>
              <a:buNone/>
            </a:pPr>
            <a:r>
              <a:rPr b="1" i="0" lang="en-US" sz="1350" u="none" cap="none" strike="noStrike">
                <a:solidFill>
                  <a:srgbClr val="22C55E"/>
                </a:solidFill>
                <a:latin typeface="Geist"/>
                <a:ea typeface="Geist"/>
                <a:cs typeface="Geist"/>
                <a:sym typeface="Geist"/>
              </a:rPr>
              <a:t>Step 2 — Preprocessing &amp; Imputation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174328" y="2640013"/>
            <a:ext cx="5355893" cy="438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Median fills response latency gaps, while mode imputes missing tutor types for stable downstream modeling.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3329980"/>
            <a:ext cx="360453" cy="36046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661475" y="3847505"/>
            <a:ext cx="5355793" cy="23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50"/>
              <a:buFont typeface="Geist"/>
              <a:buNone/>
            </a:pPr>
            <a:r>
              <a:rPr b="1" i="0" lang="en-US" sz="1350" u="none" cap="none" strike="noStrike">
                <a:solidFill>
                  <a:srgbClr val="A855F7"/>
                </a:solidFill>
                <a:latin typeface="Geist"/>
                <a:ea typeface="Geist"/>
                <a:cs typeface="Geist"/>
                <a:sym typeface="Geist"/>
              </a:rPr>
              <a:t>Step 3 — Logarithmic Transformation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61475" y="4157266"/>
            <a:ext cx="5355793" cy="444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log_ms_response = log1p(ms_first_response)</a:t>
            </a: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reduces skew and normalizes heavy-tailed response times.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4328" y="3329980"/>
            <a:ext cx="360453" cy="36046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6174328" y="3847505"/>
            <a:ext cx="5355893" cy="23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Geist"/>
              <a:buNone/>
            </a:pPr>
            <a:r>
              <a:rPr b="1" i="0" lang="en-US" sz="1350" u="none" cap="none" strike="noStrike">
                <a:solidFill>
                  <a:srgbClr val="EAB308"/>
                </a:solidFill>
                <a:latin typeface="Geist"/>
                <a:ea typeface="Geist"/>
                <a:cs typeface="Geist"/>
                <a:sym typeface="Geist"/>
              </a:rPr>
              <a:t>Step 4 — Zero-Leakage Feature Extraction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174328" y="4157266"/>
            <a:ext cx="5355893" cy="45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Compute </a:t>
            </a:r>
            <a:r>
              <a:rPr b="0" i="0" lang="en-US" sz="14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hint_ratio</a:t>
            </a: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, </a:t>
            </a:r>
            <a:r>
              <a:rPr b="0" i="0" lang="en-US" sz="14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attempt_hint_sum</a:t>
            </a: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, </a:t>
            </a:r>
            <a:r>
              <a:rPr b="0" i="0" lang="en-US" sz="14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user_skill_hints</a:t>
            </a: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, and </a:t>
            </a:r>
            <a:r>
              <a:rPr b="0" i="0" lang="en-US" sz="14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user_skill_attempts</a:t>
            </a: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without leaking target information.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475" y="4859933"/>
            <a:ext cx="360453" cy="36046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661475" y="5377458"/>
            <a:ext cx="5355793" cy="23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50"/>
              <a:buFont typeface="Geist"/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Step 5 — Dual Model Training &amp; Calibration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61475" y="5687219"/>
            <a:ext cx="5355793" cy="65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XGBoost reaches 92.40% while PyTorch LSTM/GRU/Transformer DKT, GCN concept graphing, and Autoencoder 4D latent compression refine predictive power.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74328" y="4859933"/>
            <a:ext cx="360453" cy="36046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174328" y="5377458"/>
            <a:ext cx="5355893" cy="23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50"/>
              <a:buFont typeface="Geist"/>
              <a:buNone/>
            </a:pPr>
            <a:r>
              <a:rPr b="1" i="0" lang="en-US" sz="1350" u="none" cap="none" strike="noStrike">
                <a:solidFill>
                  <a:srgbClr val="22C55E"/>
                </a:solidFill>
                <a:latin typeface="Geist"/>
                <a:ea typeface="Geist"/>
                <a:cs typeface="Geist"/>
                <a:sym typeface="Geist"/>
              </a:rPr>
              <a:t>Step 6 — Diagnostic Output &amp; Remediation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174328" y="5687219"/>
            <a:ext cx="5355893" cy="657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Chart.js severity gauges, color-coded answer review, Khan Academy videos, Master Study Notebooks, and A4 PDF downloads drive actionable learning support.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661475" y="983555"/>
            <a:ext cx="10868745" cy="53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100"/>
              <a:buFont typeface="Geist"/>
              <a:buNone/>
            </a:pPr>
            <a:r>
              <a:rPr b="1" i="0" lang="en-US" sz="31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Data Pipeline &amp; Preprocessing Workflow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42415" y="1769070"/>
            <a:ext cx="5470785" cy="4105275"/>
          </a:xfrm>
          <a:prstGeom prst="roundRect">
            <a:avLst>
              <a:gd fmla="val 2901" name="adj"/>
            </a:avLst>
          </a:prstGeom>
          <a:solidFill>
            <a:srgbClr val="3B82F6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707710" y="1934369"/>
            <a:ext cx="514019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Benchmark Dataset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707710" y="2368451"/>
            <a:ext cx="5749781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ASSISTments Benchmark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07710" y="2852142"/>
            <a:ext cx="5140196" cy="545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Geist"/>
              <a:buNone/>
            </a:pPr>
            <a:r>
              <a:rPr b="1" i="0" lang="en-US" sz="4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525K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707710" y="3604617"/>
            <a:ext cx="514019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Student Interaction Logs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707710" y="4286746"/>
            <a:ext cx="5140196" cy="545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Geist"/>
              <a:buNone/>
            </a:pPr>
            <a:r>
              <a:rPr b="1" i="0" lang="en-US" sz="4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707710" y="5039221"/>
            <a:ext cx="514019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Balanced Target Classes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707710" y="5473303"/>
            <a:ext cx="5140196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High · Medium · Low Gap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303904" y="1934369"/>
            <a:ext cx="523266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Four-Stage Preprocessing Protocol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303904" y="2389187"/>
            <a:ext cx="330688" cy="215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50"/>
              <a:buFont typeface="Geist Light"/>
              <a:buNone/>
            </a:pPr>
            <a:r>
              <a:rPr b="0" i="0" lang="en-US" sz="1250" u="none" cap="none" strike="noStrike">
                <a:solidFill>
                  <a:srgbClr val="EBEDF0"/>
                </a:solidFill>
                <a:latin typeface="Geist Light"/>
                <a:ea typeface="Geist Light"/>
                <a:cs typeface="Geist Light"/>
                <a:sym typeface="Geist Light"/>
              </a:rPr>
              <a:t>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303904" y="2659459"/>
            <a:ext cx="5232666" cy="1905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6303904" y="2780209"/>
            <a:ext cx="523266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Data Cleaning &amp; Imputation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303904" y="3214291"/>
            <a:ext cx="5232666" cy="645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Median imputation</a:t>
            </a: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for continuous metrics (ms_first_response, overlap_time); </a:t>
            </a:r>
            <a:r>
              <a:rPr b="1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Mode imputation</a:t>
            </a: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for categorical features (tutor_mode, answer_type)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303904" y="4148634"/>
            <a:ext cx="330688" cy="215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50"/>
              <a:buFont typeface="Geist Light"/>
              <a:buNone/>
            </a:pPr>
            <a:r>
              <a:rPr b="0" i="0" lang="en-US" sz="1250" u="none" cap="none" strike="noStrike">
                <a:solidFill>
                  <a:srgbClr val="EBEDF0"/>
                </a:solidFill>
                <a:latin typeface="Geist Light"/>
                <a:ea typeface="Geist Light"/>
                <a:cs typeface="Geist Light"/>
                <a:sym typeface="Geist Light"/>
              </a:rPr>
              <a:t>02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303904" y="4385866"/>
            <a:ext cx="5232666" cy="1905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303904" y="4539655"/>
            <a:ext cx="523266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Latency Log Scaling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303904" y="4973737"/>
            <a:ext cx="5232666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Applied log-transformation: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661475" y="560884"/>
            <a:ext cx="10868745" cy="423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450"/>
              <a:buFont typeface="Geist"/>
              <a:buNone/>
            </a:pPr>
            <a:r>
              <a:rPr b="1" i="0" lang="en-US" sz="2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Behavioral Feature Extraction </a:t>
            </a:r>
            <a:r>
              <a:rPr b="1" i="0" lang="en-US" sz="2450" u="none" cap="none" strike="noStrike">
                <a:solidFill>
                  <a:srgbClr val="22C55E"/>
                </a:solidFill>
                <a:latin typeface="Geist"/>
                <a:ea typeface="Geist"/>
                <a:cs typeface="Geist"/>
                <a:sym typeface="Geist"/>
              </a:rPr>
              <a:t>(Zero Label Leakage)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661475" y="1189236"/>
            <a:ext cx="10868745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All 7 core sequential attributes are derived purely from observable student behavior — no answer-correctness leakage into input features. Each attribute encodes a distinct cognitive signal that drives the gap estimation models.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07245"/>
            <a:ext cx="3554522" cy="124589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/>
          <p:nvPr/>
        </p:nvSpPr>
        <p:spPr>
          <a:xfrm>
            <a:off x="2360553" y="1701006"/>
            <a:ext cx="156266" cy="20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810696" y="2128143"/>
            <a:ext cx="3256079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correct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810696" y="2401292"/>
            <a:ext cx="3256079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Binary item accuracy (1.0 or 0.0) — immediate response outcome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487" y="1607245"/>
            <a:ext cx="3554621" cy="12458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6017566" y="1701006"/>
            <a:ext cx="156266" cy="20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467709" y="2128143"/>
            <a:ext cx="3256179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attempt_count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467709" y="2401292"/>
            <a:ext cx="3256179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Number of repeated submission attempts — persistence and retry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5599" y="1607245"/>
            <a:ext cx="3554621" cy="124589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/>
          <p:nvPr/>
        </p:nvSpPr>
        <p:spPr>
          <a:xfrm>
            <a:off x="9674677" y="1701006"/>
            <a:ext cx="156266" cy="20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8124820" y="2128143"/>
            <a:ext cx="3256179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hint_count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124820" y="2401292"/>
            <a:ext cx="3256179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Total hints requested — direct help-seeking behavior measure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955627"/>
            <a:ext cx="3554522" cy="124589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2360553" y="3049389"/>
            <a:ext cx="156266" cy="20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810696" y="3476526"/>
            <a:ext cx="3256079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hint_ratio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810696" y="3749675"/>
            <a:ext cx="3256079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Normalized hint dependency: </a:t>
            </a:r>
            <a:r>
              <a:rPr b="0" i="0" lang="en-US" sz="10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hint_count / (hint_total + 1)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487" y="2955627"/>
            <a:ext cx="3554621" cy="124589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8"/>
          <p:cNvSpPr/>
          <p:nvPr/>
        </p:nvSpPr>
        <p:spPr>
          <a:xfrm>
            <a:off x="6017566" y="3049389"/>
            <a:ext cx="156266" cy="20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467709" y="3476526"/>
            <a:ext cx="3256179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log_ms_response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467709" y="3749675"/>
            <a:ext cx="3256179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Log-transformed response latency (ms) — primary struggle indicator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5599" y="2955627"/>
            <a:ext cx="3554621" cy="12458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9674677" y="3049389"/>
            <a:ext cx="156266" cy="20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8124820" y="3476526"/>
            <a:ext cx="3256179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log_overlap_time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124820" y="3749675"/>
            <a:ext cx="3256179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Log-scaled session interaction duration — cognitive engagement depth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4304010"/>
            <a:ext cx="10868745" cy="109458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6017665" y="4397772"/>
            <a:ext cx="156266" cy="20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810696" y="4824909"/>
            <a:ext cx="10570303" cy="2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00"/>
              <a:buFont typeface="Geist"/>
              <a:buNone/>
            </a:pPr>
            <a:r>
              <a:rPr b="1" i="0" lang="en-US" sz="1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attempt_hint_sum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10696" y="5098058"/>
            <a:ext cx="10570303" cy="151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Combined struggle index: </a:t>
            </a:r>
            <a:r>
              <a:rPr b="0" i="0" lang="en-US" sz="10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attempt_count + hint_count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61475" y="5629374"/>
            <a:ext cx="5275527" cy="552252"/>
          </a:xfrm>
          <a:prstGeom prst="roundRect">
            <a:avLst>
              <a:gd fmla="val 9905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647" y="5771158"/>
            <a:ext cx="162715" cy="1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1084533" y="5754191"/>
            <a:ext cx="4722297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is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Historical Skill Memory:</a:t>
            </a:r>
            <a:r>
              <a:rPr b="0" i="0" lang="en-US" sz="10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Aggregated </a:t>
            </a:r>
            <a:r>
              <a:rPr b="0" i="0" lang="en-US" sz="1000" u="none" cap="none" strike="noStrike">
                <a:solidFill>
                  <a:srgbClr val="FFFFFF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user_skill_hints</a:t>
            </a:r>
            <a:r>
              <a:rPr b="0" i="0" lang="en-US" sz="10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and </a:t>
            </a:r>
            <a:r>
              <a:rPr b="0" i="0" lang="en-US" sz="1000" u="none" cap="none" strike="noStrike">
                <a:solidFill>
                  <a:srgbClr val="FFFFFF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user_skill_attempts</a:t>
            </a:r>
            <a:r>
              <a:rPr b="0" i="0" lang="en-US" sz="100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model longitudinal student persistence and learning trajectory across sessions.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261043" y="5606256"/>
            <a:ext cx="5275527" cy="453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The feature set is intentionally constrained to behavioral proxies — no raw answer text, no topic labels, and no score fields enter the model. This guarantees the classifier learns genuine cognitive patterns rather than shortcut correlations.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661475" y="582017"/>
            <a:ext cx="10868745" cy="456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Machine Learning Classifiers &amp; Comparative Analysis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61475" y="1337469"/>
            <a:ext cx="5262927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Model Performance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700213"/>
            <a:ext cx="4473463" cy="322232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/>
          <p:nvPr/>
        </p:nvSpPr>
        <p:spPr>
          <a:xfrm>
            <a:off x="661475" y="5056882"/>
            <a:ext cx="5262927" cy="50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XGBoost outperforms all baselines by a margin of </a:t>
            </a: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+8.20 percentage points</a:t>
            </a: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over Random Forest and </a:t>
            </a: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+10.95 points</a:t>
            </a: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over the Decision Tree baseline — confirming gradient boosting as the optimal architecture for this classification task.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172442" y="1218009"/>
            <a:ext cx="5465328" cy="5057973"/>
          </a:xfrm>
          <a:prstGeom prst="roundRect">
            <a:avLst>
              <a:gd fmla="val 2001" name="adj"/>
            </a:avLst>
          </a:prstGeom>
          <a:solidFill>
            <a:srgbClr val="3B82F6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312933" y="1337469"/>
            <a:ext cx="5184348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⭐</a:t>
            </a: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XGBoost Champion Model — Full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312933" y="1685330"/>
            <a:ext cx="5793932" cy="1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ist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Configuration: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250 Gradient-Boosted Trees, learning rate = 0.08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701761" y="2058888"/>
            <a:ext cx="4406691" cy="463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Geist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92.40%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312933" y="2682677"/>
            <a:ext cx="5184348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Test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701761" y="3220244"/>
            <a:ext cx="4406691" cy="463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Geist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0.9865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312933" y="3844032"/>
            <a:ext cx="5184348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Macro ROC-AUC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312933" y="4206776"/>
            <a:ext cx="2532396" cy="992188"/>
          </a:xfrm>
          <a:prstGeom prst="roundRect">
            <a:avLst>
              <a:gd fmla="val 5951" name="adj"/>
            </a:avLst>
          </a:prstGeom>
          <a:solidFill>
            <a:srgbClr val="3B82F6"/>
          </a:solidFill>
          <a:ln cap="flat" cmpd="sng" w="1270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466123" y="4359970"/>
            <a:ext cx="2226016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Precision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466123" y="4707830"/>
            <a:ext cx="2226016" cy="33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0.9240 — balanced across all 3 gap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964785" y="4206776"/>
            <a:ext cx="2532495" cy="992188"/>
          </a:xfrm>
          <a:prstGeom prst="roundRect">
            <a:avLst>
              <a:gd fmla="val 5951" name="adj"/>
            </a:avLst>
          </a:prstGeom>
          <a:solidFill>
            <a:srgbClr val="3B82F6"/>
          </a:solidFill>
          <a:ln cap="flat" cmpd="sng" w="1270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9117975" y="4359970"/>
            <a:ext cx="2226115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Recall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9117975" y="4707830"/>
            <a:ext cx="2226115" cy="1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0.9240 — no class penalized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312933" y="5318423"/>
            <a:ext cx="5184348" cy="823218"/>
          </a:xfrm>
          <a:prstGeom prst="roundRect">
            <a:avLst>
              <a:gd fmla="val 7172" name="adj"/>
            </a:avLst>
          </a:prstGeom>
          <a:solidFill>
            <a:srgbClr val="3B82F6"/>
          </a:solidFill>
          <a:ln cap="flat" cmpd="sng" w="1270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466123" y="5471616"/>
            <a:ext cx="4877968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F1-Score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66123" y="5819477"/>
            <a:ext cx="4877968" cy="1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0.9240 — macro-averaged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661475" y="550466"/>
            <a:ext cx="10868745" cy="430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500"/>
              <a:buFont typeface="Geist"/>
              <a:buNone/>
            </a:pPr>
            <a:r>
              <a:rPr b="1" i="0" lang="en-US" sz="25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Deep Knowledge Tracing &amp; Advanced Deep Architectures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61475" y="1192113"/>
            <a:ext cx="10868745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Five distinct deep learning architectures were trained and evaluated to capture temporal learning dynamics, long-range skill dependencies, concept graph relationships, and latent cognitive state compression.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20738"/>
            <a:ext cx="330688" cy="33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661475" y="2083693"/>
            <a:ext cx="53681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PyTorch LSTM &amp; GRU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661475" y="2362200"/>
            <a:ext cx="5368195" cy="315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Formulated 10-step interaction tensor </a:t>
            </a:r>
            <a:r>
              <a:rPr b="0" i="0" lang="en-US" sz="10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[1, 10, 7]</a:t>
            </a: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tracking sequential learner behavior.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1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GRU Test Accuracy: 92.25%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1926" y="1620738"/>
            <a:ext cx="330688" cy="33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6161926" y="2083693"/>
            <a:ext cx="53682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A855F7"/>
                </a:solidFill>
                <a:latin typeface="Geist"/>
                <a:ea typeface="Geist"/>
                <a:cs typeface="Geist"/>
                <a:sym typeface="Geist"/>
              </a:rPr>
              <a:t>Transformer-DKT (SAKT)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161926" y="2362200"/>
            <a:ext cx="5368295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Multi-Head Self-Attention with Sinusoidal Positional Encoding for temporal awareness. Captures long-range skill decay.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1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Test Accuracy: 91.25%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3038177"/>
            <a:ext cx="330688" cy="33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661475" y="3501132"/>
            <a:ext cx="53681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22C55E"/>
                </a:solidFill>
                <a:latin typeface="Geist"/>
                <a:ea typeface="Geist"/>
                <a:cs typeface="Geist"/>
                <a:sym typeface="Geist"/>
              </a:rPr>
              <a:t>Graph Neural Networks (GCN)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61475" y="3779639"/>
            <a:ext cx="5368195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20-node Normalized Concept Dependency Graph mapping prerequisite math skill relationships across curriculum topics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1926" y="3038177"/>
            <a:ext cx="330688" cy="33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/>
          <p:nvPr/>
        </p:nvSpPr>
        <p:spPr>
          <a:xfrm>
            <a:off x="6161926" y="3501132"/>
            <a:ext cx="53682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EAB308"/>
                </a:solidFill>
                <a:latin typeface="Geist"/>
                <a:ea typeface="Geist"/>
                <a:cs typeface="Geist"/>
                <a:sym typeface="Geist"/>
              </a:rPr>
              <a:t>Knowledge Autoencoders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161926" y="3779639"/>
            <a:ext cx="5368295" cy="470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4D Latent Knowledge Vector: </a:t>
            </a:r>
            <a:r>
              <a:rPr b="0" i="0" lang="en-US" sz="10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7D → 16D → 4D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0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Captures Mastery, Hesitation Rate, Help Dependency, Velocity.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000"/>
              <a:buFont typeface="Geist"/>
              <a:buNone/>
            </a:pPr>
            <a:r>
              <a:rPr b="1" i="0" lang="en-US" sz="10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MSE Loss: 0.0194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98334" y="4435475"/>
            <a:ext cx="4294477" cy="436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300"/>
              <a:buFont typeface="Geist"/>
              <a:buNone/>
            </a:pPr>
            <a:r>
              <a:rPr b="1" i="0" lang="en-US" sz="3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92.25%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61475" y="5017591"/>
            <a:ext cx="53681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GRU Accuracy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698785" y="4435475"/>
            <a:ext cx="4294576" cy="436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300"/>
              <a:buFont typeface="Geist"/>
              <a:buNone/>
            </a:pPr>
            <a:r>
              <a:rPr b="1" i="0" lang="en-US" sz="3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91.25%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161926" y="5017591"/>
            <a:ext cx="53682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Transformer Accuracy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198334" y="5510312"/>
            <a:ext cx="4294477" cy="436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300"/>
              <a:buFont typeface="Geist"/>
              <a:buNone/>
            </a:pPr>
            <a:r>
              <a:rPr b="1" i="0" lang="en-US" sz="3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0.0194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61475" y="6092428"/>
            <a:ext cx="53681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Autoencoder MSE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698785" y="5510312"/>
            <a:ext cx="4294576" cy="436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3300"/>
              <a:buFont typeface="Geist"/>
              <a:buNone/>
            </a:pPr>
            <a:r>
              <a:rPr b="1" i="0" lang="en-US" sz="3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4D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6161926" y="6092428"/>
            <a:ext cx="5368295" cy="21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250"/>
              <a:buFont typeface="Geist"/>
              <a:buNone/>
            </a:pPr>
            <a:r>
              <a:rPr b="1" i="0" lang="en-US" sz="12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Latent Vector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661475" y="516334"/>
            <a:ext cx="10868745" cy="456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Explainability &amp; Model Diagnostic Evaluation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61475" y="1271786"/>
            <a:ext cx="5262927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Multi-Class ROC Curve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61475" y="1619647"/>
            <a:ext cx="5262927" cy="50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One-vs-Rest (OvR) ROC curves computed independently across all three gap thresholds — High, Medium, and Low. The </a:t>
            </a: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Macro AUC of 0.9865</a:t>
            </a: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confirms excellent discrimination with no class penalized.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428318" y="3174603"/>
            <a:ext cx="1729042" cy="35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98.65%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617" y="2296021"/>
            <a:ext cx="2108643" cy="210869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/>
          <p:nvPr/>
        </p:nvSpPr>
        <p:spPr>
          <a:xfrm>
            <a:off x="661475" y="4559300"/>
            <a:ext cx="5262927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Macro AUC 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61475" y="4907161"/>
            <a:ext cx="5262927" cy="16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Excellent multi-class discrimination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61475" y="5210473"/>
            <a:ext cx="5262927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Geist"/>
                <a:ea typeface="Geist"/>
                <a:cs typeface="Geist"/>
                <a:sym typeface="Geist"/>
              </a:rPr>
              <a:t>Confusion Matrix &amp; Class Balance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61475" y="5558334"/>
            <a:ext cx="5262927" cy="675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Seaborn confusion matrix analysis evaluated true positives and false positives across all three gap classes. Results confirm </a:t>
            </a: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zero class bias</a:t>
            </a: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and optimal prediction confidence — the classifier does not systematically favor any single gap category.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273643" y="1271786"/>
            <a:ext cx="5262927" cy="228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Geist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Geist"/>
                <a:ea typeface="Geist"/>
                <a:cs typeface="Geist"/>
                <a:sym typeface="Geist"/>
              </a:rPr>
              <a:t>Feature Importance Hierarchy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6273643" y="1619647"/>
            <a:ext cx="5262927" cy="50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XGBoost's built-in gain-based feature importance identifies the top cognitive gap predictors — providing transparent, human-interpretable explanations for every gap classification decision.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3643" y="2260898"/>
            <a:ext cx="4473463" cy="322232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6273643" y="5617567"/>
            <a:ext cx="5262927" cy="506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00"/>
              <a:buFont typeface="Geist"/>
              <a:buNone/>
            </a:pP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Response latency is the </a:t>
            </a:r>
            <a:r>
              <a:rPr b="1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primary indicator of struggle</a:t>
            </a:r>
            <a:r>
              <a:rPr b="0" i="0" lang="en-US" sz="11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, followed by hint dependency and retry persistence — confirming that temporal hesitation and help-seeking behavior are the strongest proxies for latent knowledge gaps.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661475" y="717153"/>
            <a:ext cx="10868745" cy="483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800"/>
              <a:buFont typeface="Geist"/>
              <a:buNone/>
            </a:pPr>
            <a:r>
              <a:rPr b="1" i="0" lang="en-US" sz="28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Dedicated Assessment Review System </a:t>
            </a:r>
            <a:r>
              <a:rPr b="1" i="0" lang="en-US" sz="2800" u="none" cap="none" strike="noStrike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(/review)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54321" y="1401862"/>
            <a:ext cx="5467114" cy="4738985"/>
          </a:xfrm>
          <a:prstGeom prst="roundRect">
            <a:avLst>
              <a:gd fmla="val 2262" name="adj"/>
            </a:avLst>
          </a:prstGeom>
          <a:solidFill>
            <a:srgbClr val="3B82F6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703146" y="1535807"/>
            <a:ext cx="5169465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Problem Solved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03146" y="1911548"/>
            <a:ext cx="5169465" cy="741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The dedicated </a:t>
            </a:r>
            <a:r>
              <a:rPr b="0" i="0" lang="en-US" sz="1150" u="none" cap="none" strike="noStrike">
                <a:solidFill>
                  <a:srgbClr val="000000"/>
                </a:solidFill>
                <a:highlight>
                  <a:srgbClr val="488FFF"/>
                </a:highlight>
                <a:latin typeface="Consolas"/>
                <a:ea typeface="Consolas"/>
                <a:cs typeface="Consolas"/>
                <a:sym typeface="Consolas"/>
              </a:rPr>
              <a:t>/review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portal replaces inadequate inline summary cards with a comprehensive, answer-by-answer diagnostic feedback interface — giving students full transparency into every decision they made during the assessment.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703146" y="2786856"/>
            <a:ext cx="5169465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Interactive Quick Filters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703146" y="3162598"/>
            <a:ext cx="5169465" cy="644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525">
            <a:noAutofit/>
          </a:bodyPr>
          <a:lstStyle/>
          <a:p>
            <a:pPr indent="-233680" lvl="0" marL="23368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Char char="•"/>
            </a:pP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All (10)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Complete session overview with counter badge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❌</a:t>
            </a: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Wrong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Isolated incorrect responses for targeted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Geist"/>
              <a:buChar char="•"/>
            </a:pP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✅</a:t>
            </a:r>
            <a:r>
              <a:rPr b="1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Correct</a:t>
            </a:r>
            <a:r>
              <a:rPr b="0" i="0" lang="en-US" sz="11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 — Confirmed mastery items for confidence mapping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283763" y="1535807"/>
            <a:ext cx="5252807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Key Review Interface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763" y="1928316"/>
            <a:ext cx="2559383" cy="2055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/>
          <p:nvPr/>
        </p:nvSpPr>
        <p:spPr>
          <a:xfrm>
            <a:off x="6527835" y="2096195"/>
            <a:ext cx="2147437" cy="483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High-Contrast White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527835" y="2713732"/>
            <a:ext cx="2147437" cy="918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Maximum legibility for long mathematical question statements — optimized for extended diagnostic reading sessions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7088" y="1928316"/>
            <a:ext cx="2559482" cy="205581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/>
          <p:nvPr/>
        </p:nvSpPr>
        <p:spPr>
          <a:xfrm>
            <a:off x="9221160" y="2096195"/>
            <a:ext cx="2147536" cy="483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Side-by-Side Comparison Cards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221160" y="2713732"/>
            <a:ext cx="2147536" cy="1102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1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"Your Selected Answer"</a:t>
            </a: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displayed in Red (incorrect) or Green (correct) vs </a:t>
            </a:r>
            <a:r>
              <a:rPr b="1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"Correct Answer"</a:t>
            </a: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in a dedicated Green confirmation box — immediate visual gap attribution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3763" y="4118074"/>
            <a:ext cx="2559383" cy="187205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6527835" y="4285952"/>
            <a:ext cx="2147437" cy="483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Color-Coded Visual Feedback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6527835" y="4903490"/>
            <a:ext cx="2147437" cy="918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Immediate visual distinction between correct and incorrect responses — reduces cognitive load during post-assessment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7088" y="4118074"/>
            <a:ext cx="2559482" cy="187205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2"/>
          <p:cNvSpPr/>
          <p:nvPr/>
        </p:nvSpPr>
        <p:spPr>
          <a:xfrm>
            <a:off x="9221160" y="4285952"/>
            <a:ext cx="2147536" cy="24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1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Instant Counter Badges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9221160" y="4661694"/>
            <a:ext cx="2147536" cy="735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150"/>
              <a:buFont typeface="Geist"/>
              <a:buNone/>
            </a:pPr>
            <a:r>
              <a:rPr b="0" i="0" lang="en-US" sz="11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Real-time tally of total, wrong, and correct counts update dynamically with filter selection — no page reload required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661475" y="788095"/>
            <a:ext cx="10868745" cy="53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100"/>
              <a:buFont typeface="Geist"/>
              <a:buNone/>
            </a:pPr>
            <a:r>
              <a:rPr b="1" i="0" lang="en-US" sz="31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Session-Aware AI Recommendation &amp; Study Guides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661475" y="1738908"/>
            <a:ext cx="523266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22C55E"/>
                </a:solidFill>
                <a:latin typeface="Geist"/>
                <a:ea typeface="Geist"/>
                <a:cs typeface="Geist"/>
                <a:sym typeface="Geist"/>
              </a:rPr>
              <a:t>Strict Session Filtering Logic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61475" y="2172990"/>
            <a:ext cx="5232666" cy="866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The </a:t>
            </a:r>
            <a:r>
              <a:rPr b="0" i="0" lang="en-US" sz="13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load_resources()</a:t>
            </a: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function enforces strict topic-level filtering: recommendations display </a:t>
            </a:r>
            <a:r>
              <a:rPr b="1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only the 10 specific topics attended</a:t>
            </a: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in that test session. Weak skills are sorted to the top for prioritized remediation — eliminating irrelevant content noise entirely.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61475" y="3204666"/>
            <a:ext cx="523266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EAB308"/>
                </a:solidFill>
                <a:latin typeface="Geist"/>
                <a:ea typeface="Geist"/>
                <a:cs typeface="Geist"/>
                <a:sym typeface="Geist"/>
              </a:rPr>
              <a:t>Personalized Learning Path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61475" y="3638748"/>
            <a:ext cx="5232666" cy="645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Adaptive difficulty progression based on real-time mastery level assessment. All study materials are offline-accessible for continuous learning beyond the platform session.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303904" y="1738908"/>
            <a:ext cx="5232666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Integrated Multi-Modal Learning Resources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904" y="2193727"/>
            <a:ext cx="413434" cy="41344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/>
          <p:nvPr/>
        </p:nvSpPr>
        <p:spPr>
          <a:xfrm>
            <a:off x="6924006" y="2193727"/>
            <a:ext cx="4612564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Khan Academy Video Lessons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924006" y="2627809"/>
            <a:ext cx="4612564" cy="430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Verified video embeds for conceptual reinforcement — each weak skill mapped to a curated external lesson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3904" y="3388519"/>
            <a:ext cx="413434" cy="41344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/>
          <p:nvPr/>
        </p:nvSpPr>
        <p:spPr>
          <a:xfrm>
            <a:off x="6924006" y="3388519"/>
            <a:ext cx="4612564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Master Academic Study Notebooks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924006" y="3822601"/>
            <a:ext cx="4612564" cy="645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Comprehensive theory, governing formulas, step-by-step solved problems across </a:t>
            </a:r>
            <a:r>
              <a:rPr b="1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4 difficulty levels</a:t>
            </a: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: Basic → Intermediate → Applied STEM → Exam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3904" y="4798318"/>
            <a:ext cx="413434" cy="41344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/>
          <p:nvPr/>
        </p:nvSpPr>
        <p:spPr>
          <a:xfrm>
            <a:off x="6924006" y="4798318"/>
            <a:ext cx="4612564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Print-Ready A4 PDF Downloads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6924006" y="5232400"/>
            <a:ext cx="4612564" cy="651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EBEDF0"/>
                </a:solidFill>
                <a:highlight>
                  <a:srgbClr val="1D232D"/>
                </a:highlight>
                <a:latin typeface="Consolas"/>
                <a:ea typeface="Consolas"/>
                <a:cs typeface="Consolas"/>
                <a:sym typeface="Consolas"/>
              </a:rPr>
              <a:t>/pdf_notes/&lt;skill&gt;</a:t>
            </a: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endpoint for one-click printable study guides — full offline access to curriculum-aligned reference material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661475" y="699988"/>
            <a:ext cx="10868745" cy="53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100"/>
              <a:buFont typeface="Geist"/>
              <a:buNone/>
            </a:pPr>
            <a:r>
              <a:rPr b="1" i="0" lang="en-US" sz="31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Future Scope &amp; Developing Further Features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568152"/>
            <a:ext cx="2593216" cy="458985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4"/>
          <p:cNvSpPr/>
          <p:nvPr/>
        </p:nvSpPr>
        <p:spPr>
          <a:xfrm>
            <a:off x="1834013" y="1664494"/>
            <a:ext cx="248041" cy="322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1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845819" y="2248595"/>
            <a:ext cx="2224528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3B82F6"/>
                </a:solidFill>
                <a:latin typeface="Geist"/>
                <a:ea typeface="Geist"/>
                <a:cs typeface="Geist"/>
                <a:sym typeface="Geist"/>
              </a:rPr>
              <a:t>Phase 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845819" y="2583458"/>
            <a:ext cx="2224528" cy="96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Real-Time LLM-Driven Question Generation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845819" y="3650059"/>
            <a:ext cx="2224528" cy="14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Integrating Gemini / Llama 3 API for dynamic hint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Infinite practice problem synthesis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Adaptive difficulty scaling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985" y="1568152"/>
            <a:ext cx="2593216" cy="458985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/>
          <p:nvPr/>
        </p:nvSpPr>
        <p:spPr>
          <a:xfrm>
            <a:off x="4592523" y="1664494"/>
            <a:ext cx="248041" cy="322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3604329" y="2248595"/>
            <a:ext cx="2224528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22C55E"/>
                </a:solidFill>
                <a:latin typeface="Geist"/>
                <a:ea typeface="Geist"/>
                <a:cs typeface="Geist"/>
                <a:sym typeface="Geist"/>
              </a:rPr>
              <a:t>Phase 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3604329" y="2583458"/>
            <a:ext cx="2224528" cy="1289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Multi-Modal Biometric &amp; Affective Computing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604329" y="3972520"/>
            <a:ext cx="2224528" cy="1893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Eye-tracking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Keystroke dynamics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Facial emotion detection for frustration and cognitive fatigue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Real-time learner state assessment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495" y="1568152"/>
            <a:ext cx="2593216" cy="4589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4"/>
          <p:cNvSpPr/>
          <p:nvPr/>
        </p:nvSpPr>
        <p:spPr>
          <a:xfrm>
            <a:off x="7351033" y="1664494"/>
            <a:ext cx="248041" cy="322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6362838" y="2248595"/>
            <a:ext cx="2224528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A855F7"/>
                </a:solidFill>
                <a:latin typeface="Geist"/>
                <a:ea typeface="Geist"/>
                <a:cs typeface="Geist"/>
                <a:sym typeface="Geist"/>
              </a:rPr>
              <a:t>Phase 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6362838" y="2583458"/>
            <a:ext cx="2224528" cy="644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Multi-Disciplinary Subject Expansion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6362838" y="3327598"/>
            <a:ext cx="2224528" cy="1835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Scaling from 20 Math topics to Computer Science Algorithms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Data Structures, Physics, and Electrical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Cross-domain prerequisite mapping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7005" y="1568152"/>
            <a:ext cx="2593216" cy="458985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4"/>
          <p:cNvSpPr/>
          <p:nvPr/>
        </p:nvSpPr>
        <p:spPr>
          <a:xfrm>
            <a:off x="10109542" y="1664494"/>
            <a:ext cx="248041" cy="322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9121348" y="2248595"/>
            <a:ext cx="2224528" cy="26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50"/>
              <a:buFont typeface="Geist"/>
              <a:buNone/>
            </a:pPr>
            <a:r>
              <a:rPr b="1" i="0" lang="en-US" sz="1550" u="none" cap="none" strike="noStrike">
                <a:solidFill>
                  <a:srgbClr val="F59E0B"/>
                </a:solidFill>
                <a:latin typeface="Geist"/>
                <a:ea typeface="Geist"/>
                <a:cs typeface="Geist"/>
                <a:sym typeface="Geist"/>
              </a:rPr>
              <a:t>Phase 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9121348" y="2583458"/>
            <a:ext cx="2224528" cy="96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Institutional Analytics &amp; Mobile Ecosystem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9121348" y="3650059"/>
            <a:ext cx="2224528" cy="2323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Instructor dashboards for university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Cross-platform Flutter/React Native mobile applications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Gamified mastery badges and leaderboards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00"/>
              <a:buFont typeface="Geist"/>
              <a:buChar char="•"/>
            </a:pPr>
            <a:r>
              <a:rPr b="0" i="0" lang="en-US" sz="13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Federated learning for multi-institution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